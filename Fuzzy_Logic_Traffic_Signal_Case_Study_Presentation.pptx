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5A5A5A"/>
                </a:solidFill>
                <a:latin typeface="Arial"/>
              </a:defRPr>
            </a:pPr>
            <a:r>
              <a:t>FUNDAMENTALS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78992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INTELLIGENT TRAFFIC SIGNAL CONTROL</a:t>
            </a:r>
          </a:p>
          <a:p>
            <a:pPr algn="ctr">
              <a:spcAft>
                <a:spcPts val="5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USING FUZZY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01568"/>
            <a:ext cx="484632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5A5A5A"/>
                </a:solidFill>
                <a:latin typeface="Arial"/>
              </a:defRPr>
            </a:pPr>
            <a:r>
              <a:t>Adaptive green-light timing with priority-aware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Python 3 • Tkinter GUI • Fuzzy inference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Why adaptive traffic signal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13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Fixed-time signals use predetermined green durations even when traffic varies.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Unequal queues and waiting times can lead to avoidable delays.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Goal: estimate a suitable green duration from vehicle count and waiting time.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Ensure only one direction is green at a time; the other three remain red.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Serve North, South, East, and West once in each scheduling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Fuzzy Logic?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Reasoning with degrees of membership rather than strict yes/no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6400800" cy="42976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Traditional Boolean logic: true or false.</a:t>
            </a:r>
          </a:p>
          <a:p>
            <a:pPr>
              <a:buChar char="•"/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Fuzzy logic: membership can range from 0 to 1.</a:t>
            </a:r>
          </a:p>
          <a:p>
            <a:pPr>
              <a:buChar char="•"/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0 = no membership; 1 = full membership; values between = partial membership.</a:t>
            </a:r>
          </a:p>
          <a:p>
            <a:pPr>
              <a:buChar char="•"/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 traffic count can partly belong to both “medium” and “high” density.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840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Membership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880360"/>
            <a:ext cx="3246119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2770632"/>
            <a:ext cx="22860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3063240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41180" y="2770632"/>
            <a:ext cx="22860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2580" y="3063240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2770632"/>
            <a:ext cx="22860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5640" y="3063240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703320"/>
            <a:ext cx="402336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Example: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Medium density = 0.7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High density = 0.2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Fuzzy logic calculates duration; a separate scheduler chooses the next road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23160"/>
            <a:ext cx="20116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1. Traffic inputs</a:t>
            </a:r>
          </a:p>
          <a:p>
            <a:pPr algn="ctr">
              <a:defRPr sz="1200">
                <a:solidFill>
                  <a:srgbClr val="000000"/>
                </a:solidFill>
                <a:latin typeface="Arial"/>
              </a:defRPr>
            </a:pPr>
            <a:r>
              <a:t>Vehicle count</a:t>
            </a:r>
            <a:br/>
            <a:r>
              <a:t>Waiting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999232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423160"/>
            <a:ext cx="20116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2. Fuzzification</a:t>
            </a:r>
          </a:p>
          <a:p>
            <a:pPr algn="ctr">
              <a:defRPr sz="1200">
                <a:solidFill>
                  <a:srgbClr val="000000"/>
                </a:solidFill>
                <a:latin typeface="Arial"/>
              </a:defRPr>
            </a:pPr>
            <a:r>
              <a:t>Low / Medium / High</a:t>
            </a:r>
            <a:br/>
            <a:r>
              <a:t>Short / Medium / Long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999232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423160"/>
            <a:ext cx="20116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3. Rule evaluation</a:t>
            </a:r>
          </a:p>
          <a:p>
            <a:pPr algn="ctr">
              <a:defRPr sz="1200">
                <a:solidFill>
                  <a:srgbClr val="000000"/>
                </a:solidFill>
                <a:latin typeface="Arial"/>
              </a:defRPr>
            </a:pPr>
            <a:r>
              <a:t>IF–THEN rules</a:t>
            </a:r>
            <a:br/>
            <a:r>
              <a:t>AND = minimum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2999232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0116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4. Green-time output</a:t>
            </a:r>
          </a:p>
          <a:p>
            <a:pPr algn="ctr">
              <a:defRPr sz="1200">
                <a:solidFill>
                  <a:srgbClr val="000000"/>
                </a:solidFill>
                <a:latin typeface="Arial"/>
              </a:defRPr>
            </a:pPr>
            <a:r>
              <a:t>Weighted average</a:t>
            </a:r>
            <a:br/>
            <a:r>
              <a:t>10–60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999232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423160"/>
            <a:ext cx="20116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5. Scheduler</a:t>
            </a:r>
          </a:p>
          <a:p>
            <a:pPr algn="ctr">
              <a:defRPr sz="1200">
                <a:solidFill>
                  <a:srgbClr val="000000"/>
                </a:solidFill>
                <a:latin typeface="Arial"/>
              </a:defRPr>
            </a:pPr>
            <a:r>
              <a:t>Longest wait first</a:t>
            </a:r>
            <a:br/>
            <a:r>
              <a:t>Vehicle count breaks 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3327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Inputs → fuzzy inference → suggested duration → priority scheduler → one active green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Inputs &amp; Fuzzy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Each approach is evaluated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937760" cy="310896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INPUT 1: TRAFFIC 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4114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83279"/>
            <a:ext cx="4114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77639"/>
            <a:ext cx="4114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4937760" cy="310896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INPUT 2: WAITING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88920"/>
            <a:ext cx="4114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Short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383279"/>
            <a:ext cx="4114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977639"/>
            <a:ext cx="4114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• 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10149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5A5A5A"/>
                </a:solidFill>
                <a:latin typeface="Arial"/>
              </a:defRPr>
            </a:pPr>
            <a:r>
              <a:t>Overlapping membership functions allow partial membership in more than one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Fuzzy Rule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Nine rules map density and waiting-time categories to green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828800"/>
          <a:ext cx="10149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51760"/>
                <a:gridCol w="2651760"/>
                <a:gridCol w="2651760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Density</a:t>
                      </a:r>
                    </a:p>
                  </a:txBody>
                  <a:tcPr marL="73152" marR="73152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Short wait</a:t>
                      </a:r>
                    </a:p>
                  </a:txBody>
                  <a:tcPr marL="73152" marR="73152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 wait</a:t>
                      </a:r>
                    </a:p>
                  </a:txBody>
                  <a:tcPr marL="73152" marR="73152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Long wait</a:t>
                      </a:r>
                    </a:p>
                  </a:txBody>
                  <a:tcPr marL="73152" marR="73152" marT="45720" marB="45720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32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42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58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5074920"/>
            <a:ext cx="99669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Higher density and longer waiting generally lead to longer green durations.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How Is Green Time Calculated?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Fuzzy AND uses the minimum; active rule outputs are combined by weighted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T = Σ (rule strength × rule duration) / Σ rule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Example: Medium density = 1.00, Short wait =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9692640" cy="22860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Rule: IF density is Medium AND wait is Short, THEN green = 22 seconds.</a:t>
            </a:r>
          </a:p>
          <a:p>
            <a:pPr>
              <a:buChar char="•"/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Strength = min(1.00, 1.00) = 1.00.</a:t>
            </a:r>
          </a:p>
          <a:p>
            <a:pPr>
              <a:buChar char="•"/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If this is the only active rule, suggested green time = 22 seconds.</a:t>
            </a:r>
          </a:p>
          <a:p>
            <a:pPr>
              <a:buChar char="•"/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output is bounded to 10–60 seconds and rounded for the countdown.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Priority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Two different decisions: how long vs. which direction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FUZZY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0292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Calculates green duration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from vehicle count + waiting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212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50292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Selects the next road: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longest wait first; vehicle count breaks 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2286000" cy="9601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2103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North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Green: calculated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251960"/>
            <a:ext cx="2286000" cy="9601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4407408"/>
            <a:ext cx="2103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South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Green: calculated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251960"/>
            <a:ext cx="2286000" cy="9601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07408"/>
            <a:ext cx="2103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East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Green: calculated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4251960"/>
            <a:ext cx="2286000" cy="9601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407408"/>
            <a:ext cx="2103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West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Green: calculated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Only one approach is green at a time; the other three remain 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Application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What the user does in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New Traffic: generates vehicle counts and waiting-time values for all four directions.</a:t>
            </a:r>
          </a:p>
          <a:p>
            <a:pPr>
              <a:buChar char="•"/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Run Fuzzy Controller / Calculate &amp; Start: calculates durations and starts the signal cycle.</a:t>
            </a:r>
          </a:p>
          <a:p>
            <a:pPr>
              <a:buChar char="•"/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Active road turns green; the other three remain red.</a:t>
            </a:r>
          </a:p>
          <a:p>
            <a:pPr>
              <a:buChar char="•"/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Countdown runs; when it reaches zero, the current road turns red and the next eligible road turns green.</a:t>
            </a:r>
          </a:p>
          <a:p>
            <a:pPr>
              <a:buChar char="•"/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Pause and Resume control the simulation timer.</a:t>
            </a:r>
          </a:p>
          <a:p>
            <a:pPr>
              <a:buChar char="•"/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Inspect approach shows memberships, active rules, suggested duration, and signal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Example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Illustrative values from the simulation; actual values vary by generated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743200"/>
                <a:gridCol w="27432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Vehicles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Waiting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Example 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Illustration only: the scheduler prioritizes longer waits among roads not yet served in the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Testing, 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A simulation prototype, not a real traffic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Test: new traffic, start, countdown, pause/resume, inspect each approach, full cycle.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Limitation: traffic and waiting times are simulated.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Waiting time does not automatically increase while waiting.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Membership boundaries and rule outputs are manually chosen.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No pedestrian, emergency-vehicle, or clearance-interval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754880" cy="3200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Increase waiting time dynamically.</a:t>
            </a:r>
          </a:p>
          <a:p>
            <a:pPr>
              <a:buChar char="•"/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Add yellow and all-red clearance phases.</a:t>
            </a:r>
          </a:p>
          <a:p>
            <a:pPr>
              <a:buChar char="•"/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Allow manual editing of inputs and rules.</a:t>
            </a:r>
          </a:p>
          <a:p>
            <a:pPr>
              <a:buChar char="•"/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Compare with fixed-time signals using average delay.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What this case study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Fuzzy logic handles gradual traffic categories with membership values from 0 to 1.</a:t>
            </a:r>
          </a:p>
          <a:p>
            <a:pPr>
              <a:buChar char="•"/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Nine IF–THEN rules calculate an adaptive green-light duration.</a:t>
            </a:r>
          </a:p>
          <a:p>
            <a:pPr>
              <a:buChar char="•"/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A separate scheduler selects the next direction using waiting-time priority.</a:t>
            </a:r>
          </a:p>
          <a:p>
            <a:pPr>
              <a:buChar char="•"/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The simulation keeps only one direction green at a time and cycles through all four.</a:t>
            </a:r>
          </a:p>
          <a:p>
            <a:pPr>
              <a:buChar char="•"/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The GUI makes the decision process visible and explainable.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10058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5A5A5A"/>
                </a:solidFill>
                <a:latin typeface="Arial"/>
              </a:defRPr>
            </a:pPr>
            <a:r>
              <a:t>Educational demonstration only — not suitable for controlling real traffic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5A5A"/>
                </a:solidFill>
                <a:latin typeface="Arial"/>
              </a:defRPr>
            </a:pPr>
            <a:r>
              <a:t>Sources for the concepts and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A5A5A"/>
                </a:solidFill>
                <a:latin typeface="Arial"/>
              </a:defRPr>
            </a:pPr>
            <a:r>
              <a:t>FUNDAMENTALS OF ARTIFICIAL INTELLIGENCE | FUZZY LOGIC TRAFFIC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34747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buChar char="•"/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L. A. Zadeh, “Fuzzy Sets,” Information and Control, vol. 8, no. 3, pp. 338–353, 1965.</a:t>
            </a:r>
          </a:p>
          <a:p>
            <a:pPr>
              <a:buChar char="•"/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Timothy J. Ross, Fuzzy Logic with Engineering Applications, 3rd ed., Wiley, 2010.</a:t>
            </a:r>
          </a:p>
          <a:p>
            <a:pPr>
              <a:buChar char="•"/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Python Software Foundation, tkinter documentation: docs.python.org/3/library/tkinter.html.</a:t>
            </a:r>
          </a:p>
          <a:p>
            <a:pPr>
              <a:buChar char="•"/>
              <a:spcAft>
                <a:spcPts val="1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Project implementation: fuzzy_traffic_signal.py.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